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594360"/>
            <a:ext cx="1371600" cy="347472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03504"/>
            <a:ext cx="1371600" cy="32918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GAME PROJECT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987552"/>
            <a:ext cx="7498079" cy="11887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Mini Whisper</a:t>
            </a:r>
            <a:endParaRPr sz="58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79" cy="65836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2200" b="0" i="0">
                <a:solidFill>
                  <a:srgbClr val="B0C4DE"/>
                </a:solidFill>
                <a:latin typeface="Calibri"/>
              </a:rPr>
              <a:t>A Roguelike Deckbuilder Solved with Action-Masked PPO</a:t>
            </a:r>
            <a:endParaRPr sz="2200" b="0" i="0">
              <a:solidFill>
                <a:srgbClr val="B0C4D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816352"/>
            <a:ext cx="4114800" cy="36576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7498079" cy="250825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Calibri"/>
              </a:rPr>
              <a:t/>
            </a:r>
            <a:endParaRPr sz="1300" b="0" i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Overview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2743200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960120"/>
            <a:ext cx="475488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399032"/>
            <a:ext cx="475488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200" b="1" i="0">
                <a:solidFill>
                  <a:srgbClr val="E25D30"/>
                </a:solidFill>
                <a:latin typeface="Calibri"/>
              </a:rPr>
              <a:t>01</a:t>
            </a:r>
            <a:endParaRPr sz="2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" y="1069848"/>
            <a:ext cx="2084831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Motivation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" y="1554480"/>
            <a:ext cx="2084831" cy="7498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Why RL in deckbuilders?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55264" y="960120"/>
            <a:ext cx="2743200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55264" y="960120"/>
            <a:ext cx="475488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399032"/>
            <a:ext cx="475488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200" b="1" i="0">
                <a:solidFill>
                  <a:srgbClr val="E25D30"/>
                </a:solidFill>
                <a:latin typeface="Calibri"/>
              </a:rPr>
              <a:t>02</a:t>
            </a:r>
            <a:endParaRPr sz="2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22191" y="1069848"/>
            <a:ext cx="2084831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Game Design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22191" y="1554480"/>
            <a:ext cx="2084831" cy="7498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Mini Whisper in 3 minutes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960120"/>
            <a:ext cx="2743200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960120"/>
            <a:ext cx="475488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399032"/>
            <a:ext cx="475488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200" b="1" i="0">
                <a:solidFill>
                  <a:srgbClr val="E25D30"/>
                </a:solidFill>
                <a:latin typeface="Calibri"/>
              </a:rPr>
              <a:t>03</a:t>
            </a:r>
            <a:endParaRPr sz="2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84848" y="1069848"/>
            <a:ext cx="2084831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RL Formulation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84848" y="1554480"/>
            <a:ext cx="2084831" cy="7498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MDP · State · Action · Reward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92608" y="2651760"/>
            <a:ext cx="2743200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" y="2651760"/>
            <a:ext cx="475488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090672"/>
            <a:ext cx="475488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200" b="1" i="0">
                <a:solidFill>
                  <a:srgbClr val="E25D30"/>
                </a:solidFill>
                <a:latin typeface="Calibri"/>
              </a:rPr>
              <a:t>04</a:t>
            </a:r>
            <a:endParaRPr sz="2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9536" y="2761488"/>
            <a:ext cx="2084831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Training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9536" y="3246120"/>
            <a:ext cx="2084831" cy="7498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MaskablePPO · 300K steps · 4.4 min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55264" y="2651760"/>
            <a:ext cx="2743200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55264" y="2651760"/>
            <a:ext cx="475488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3090672"/>
            <a:ext cx="475488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200" b="1" i="0">
                <a:solidFill>
                  <a:srgbClr val="E25D30"/>
                </a:solidFill>
                <a:latin typeface="Calibri"/>
              </a:rPr>
              <a:t>05</a:t>
            </a:r>
            <a:endParaRPr sz="2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22191" y="2761488"/>
            <a:ext cx="2084831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Results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22191" y="3246120"/>
            <a:ext cx="2084831" cy="7498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Win rate · Floor reach · Strategy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17920" y="2651760"/>
            <a:ext cx="2743200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651760"/>
            <a:ext cx="475488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090672"/>
            <a:ext cx="475488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200" b="1" i="0">
                <a:solidFill>
                  <a:srgbClr val="E25D30"/>
                </a:solidFill>
                <a:latin typeface="Calibri"/>
              </a:rPr>
              <a:t>06</a:t>
            </a:r>
            <a:endParaRPr sz="2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84848" y="2761488"/>
            <a:ext cx="2084831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Findings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84848" y="3246120"/>
            <a:ext cx="2084831" cy="7498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Balance insights · Limitations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Motivation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243330"/>
            <a:ext cx="48463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1243330"/>
            <a:ext cx="91440" cy="111556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482"/>
            <a:ext cx="452628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Fully Observable</a:t>
            </a:r>
            <a:endParaRPr sz="14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682242"/>
            <a:ext cx="4526280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1A2744"/>
                </a:solidFill>
                <a:latin typeface="Calibri"/>
              </a:rPr>
              <a:t>No hidden information — difficulty comes from combinatorial card choices, not imperfect info.</a:t>
            </a:r>
            <a:endParaRPr sz="12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2608" y="2505201"/>
            <a:ext cx="48463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2505201"/>
            <a:ext cx="91440" cy="111556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78354"/>
            <a:ext cx="452628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Long Horizon</a:t>
            </a:r>
            <a:endParaRPr sz="14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944113"/>
            <a:ext cx="4526280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1A2744"/>
                </a:solidFill>
                <a:latin typeface="Calibri"/>
              </a:rPr>
              <a:t>Runs span ~16 turns across 10 floors, demanding long-term planning with dense reward shaping.</a:t>
            </a:r>
            <a:endParaRPr sz="12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2608" y="3767073"/>
            <a:ext cx="48463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3767073"/>
            <a:ext cx="91440" cy="111556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40225"/>
            <a:ext cx="452628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Action Masking</a:t>
            </a:r>
            <a:endParaRPr sz="14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205985"/>
            <a:ext cx="4526280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1A2744"/>
                </a:solidFill>
                <a:latin typeface="Calibri"/>
              </a:rPr>
              <a:t>Illegal actions (empty slots, insufficient energy) must be masked — ideal for MaskablePPO.</a:t>
            </a:r>
            <a:endParaRPr sz="12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376672" y="1270762"/>
            <a:ext cx="3474720" cy="3611880"/>
          </a:xfrm>
          <a:prstGeom prst="rect">
            <a:avLst/>
          </a:prstGeom>
          <a:solidFill>
            <a:srgbClr val="1B2A4A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1407922"/>
            <a:ext cx="3108960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1" i="0">
                <a:solidFill>
                  <a:srgbClr val="E25D30"/>
                </a:solidFill>
                <a:latin typeface="Calibri"/>
              </a:rPr>
              <a:t>TWO RESEARCH QUESTIONS</a:t>
            </a:r>
            <a:endParaRPr sz="10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59552" y="1819402"/>
            <a:ext cx="3108960" cy="9144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Can a small PPO agent learn a non-trivial roguelike from scratch?</a:t>
            </a:r>
            <a:endParaRPr sz="1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08192" y="2806954"/>
            <a:ext cx="2011680" cy="36576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2916682"/>
            <a:ext cx="3108960" cy="13898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Can RL serve as a game-design audit tool — surfacing balance problems faster than manual playtesting?</a:t>
            </a:r>
            <a:endParaRPr sz="1500" b="0" i="0">
              <a:solidFill>
                <a:srgbClr val="B0C4D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Mini Whisper: The Game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Post-apocalyptic × Cyber-Cthulhu roguelike deckbuilder built in Gymnasium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6" name="Picture 5" descr="fig9_demo_fra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124712"/>
            <a:ext cx="484632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932942"/>
            <a:ext cx="3657600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Core Loop</a:t>
            </a:r>
            <a:endParaRPr sz="16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520" y="1298448"/>
            <a:ext cx="384048" cy="38404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316736"/>
            <a:ext cx="384048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  <a:endParaRPr sz="1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79008" y="1298448"/>
            <a:ext cx="3182112" cy="2743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Floor Entry</a:t>
            </a:r>
            <a:endParaRPr sz="13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79008" y="1572768"/>
            <a:ext cx="3182112" cy="457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Restore hand · Roll one rule modifier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2185415"/>
            <a:ext cx="384048" cy="38404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203703"/>
            <a:ext cx="384048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  <a:endParaRPr sz="1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79008" y="2185415"/>
            <a:ext cx="3182112" cy="2743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Enemy Spawn</a:t>
            </a:r>
            <a:endParaRPr sz="13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79008" y="2459735"/>
            <a:ext cx="3182112" cy="457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Stage-specific pool · Intent published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03520" y="3072384"/>
            <a:ext cx="384048" cy="38404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090672"/>
            <a:ext cx="384048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  <a:endParaRPr sz="1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79008" y="3072384"/>
            <a:ext cx="3182112" cy="2743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Combat</a:t>
            </a:r>
            <a:endParaRPr sz="13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79008" y="3346703"/>
            <a:ext cx="3182112" cy="457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Play cards → spend energy → end turn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03520" y="3959352"/>
            <a:ext cx="384048" cy="38404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3977639"/>
            <a:ext cx="384048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  <a:endParaRPr sz="1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79008" y="3959352"/>
            <a:ext cx="3182112" cy="2743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Advance / End</a:t>
            </a:r>
            <a:endParaRPr sz="13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9008" y="4233672"/>
            <a:ext cx="3182112" cy="457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Kill enemy → next floor · HP=0 → defeat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03520" y="4736592"/>
            <a:ext cx="3657600" cy="0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4462272"/>
            <a:ext cx="822960" cy="365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7" y="4462272"/>
            <a:ext cx="786384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10 floors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17920" y="4462272"/>
            <a:ext cx="822960" cy="365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7" y="4462272"/>
            <a:ext cx="786384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6 enemies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132320" y="4462272"/>
            <a:ext cx="822960" cy="365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7" y="4462272"/>
            <a:ext cx="786384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15 cards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20" y="4462272"/>
            <a:ext cx="822960" cy="365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4462272"/>
            <a:ext cx="786384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</a:rPr>
              <a:t>6 rules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Formalising Mini Whisper as an MDP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914400"/>
            <a:ext cx="27889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914400"/>
            <a:ext cx="2788920" cy="4389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914400"/>
            <a:ext cx="2331720" cy="43891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State  S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41448" y="969264"/>
            <a:ext cx="6309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978408"/>
            <a:ext cx="630936" cy="21945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1" i="0">
                <a:solidFill>
                  <a:srgbClr val="1685A7"/>
                </a:solidFill>
                <a:latin typeface="Calibri"/>
              </a:rPr>
              <a:t>51-dim</a:t>
            </a:r>
            <a:endParaRPr sz="10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" y="14173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Player: HP, SAN, energy, buffs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9768" y="1874519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Enemy: HP, intent, stage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" y="23317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Hand: card IDs + costs (5 slots)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" y="27889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Deck &amp; discard composition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9768" y="32461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Floor, turn, active rule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2608" y="4279392"/>
            <a:ext cx="2788920" cy="475488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4297680"/>
            <a:ext cx="2578608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1">
                <a:solidFill>
                  <a:srgbClr val="1685A7"/>
                </a:solidFill>
                <a:latin typeface="Calibri"/>
              </a:rPr>
              <a:t>51-dim Box float32 · bounded [-1, 100]</a:t>
            </a:r>
            <a:endParaRPr sz="1000" b="0" i="1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55264" y="914400"/>
            <a:ext cx="27889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5264" y="914400"/>
            <a:ext cx="2788920" cy="4389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914400"/>
            <a:ext cx="2331720" cy="43891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Action  A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04104" y="969264"/>
            <a:ext cx="6309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978408"/>
            <a:ext cx="630936" cy="21945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1" i="0">
                <a:solidFill>
                  <a:srgbClr val="E25D30"/>
                </a:solidFill>
                <a:latin typeface="Calibri"/>
              </a:rPr>
              <a:t>16-way</a:t>
            </a:r>
            <a:endParaRPr sz="10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92424" y="14173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Slots 0–4: play hand card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92424" y="1874519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Slot 5–14: reserved (future)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92424" y="23317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Slot 15: End Turn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92424" y="32461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Slot-based (not card-id based)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55264" y="4279392"/>
            <a:ext cx="2788920" cy="475488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4992" y="4297680"/>
            <a:ext cx="2578608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1">
                <a:solidFill>
                  <a:srgbClr val="E25D30"/>
                </a:solidFill>
                <a:latin typeface="Calibri"/>
              </a:rPr>
              <a:t>Discrete(16) · action-masked</a:t>
            </a:r>
            <a:endParaRPr sz="1000" b="0" i="1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17920" y="914400"/>
            <a:ext cx="27889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914400"/>
            <a:ext cx="2788920" cy="4389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914400"/>
            <a:ext cx="2331720" cy="43891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Reward  R</a:t>
            </a:r>
            <a:endParaRPr sz="17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66760" y="969264"/>
            <a:ext cx="5532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978408"/>
            <a:ext cx="553212" cy="219456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dense</a:t>
            </a:r>
            <a:endParaRPr sz="1000" b="1" i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5080" y="14173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0.05·Δdamage + 0.02·Δarmor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55080" y="1874519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0.05·Δheal + 0.03·Δsan_gain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55080" y="23317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−0.02·Δsan_loss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55080" y="27889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+5 enemy kill  ·  +20 boss kill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55080" y="3246120"/>
            <a:ext cx="251460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· −15 player death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17920" y="4279392"/>
            <a:ext cx="2788920" cy="475488"/>
          </a:xfrm>
          <a:prstGeom prst="rect">
            <a:avLst/>
          </a:prstGeom>
          <a:solidFill>
            <a:srgbClr val="F4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4297680"/>
            <a:ext cx="2578608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  <a:latin typeface="Calibri"/>
              </a:rPr>
              <a:t>Dense shaping · mean≈49.5 / 1K eps</a:t>
            </a:r>
            <a:endParaRPr sz="1000" b="0" i="1">
              <a:solidFill>
                <a:srgbClr val="27AE6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Action Masking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Filtering illegal moves at every step keeps training fast and stable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1111377"/>
            <a:ext cx="4389120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What is Action Masking?</a:t>
            </a:r>
            <a:endParaRPr sz="16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608" y="1444752"/>
            <a:ext cx="91440" cy="56692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44752"/>
            <a:ext cx="4187952" cy="6858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1A2744"/>
                </a:solidFill>
                <a:latin typeface="Calibri"/>
              </a:rPr>
              <a:t>At each step, env.action_masks() returns a bool[16] vector.</a:t>
            </a:r>
            <a:endParaRPr sz="12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2608" y="2249424"/>
            <a:ext cx="91440" cy="56692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49424"/>
            <a:ext cx="4187952" cy="6858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1A2744"/>
                </a:solidFill>
                <a:latin typeface="Calibri"/>
              </a:rPr>
              <a:t>MaskablePPO zeroes out logits for illegal actions before sampling — the policy never 'wastes' gradient on impossible moves.</a:t>
            </a:r>
            <a:endParaRPr sz="12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608" y="3054096"/>
            <a:ext cx="91440" cy="56692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054096"/>
            <a:ext cx="4187952" cy="6858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1A2744"/>
                </a:solidFill>
                <a:latin typeface="Calibri"/>
              </a:rPr>
              <a:t>Typical turn: 3–5 legal actions out of 16.</a:t>
            </a:r>
            <a:endParaRPr sz="12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2608" y="3749039"/>
            <a:ext cx="2084831" cy="1024128"/>
          </a:xfrm>
          <a:prstGeom prst="rect">
            <a:avLst/>
          </a:prstGeom>
          <a:solidFill>
            <a:srgbClr val="FFF0EE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794760"/>
            <a:ext cx="1901952" cy="32004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1" i="0">
                <a:solidFill>
                  <a:srgbClr val="C03020"/>
                </a:solidFill>
                <a:latin typeface="Calibri"/>
              </a:rPr>
              <a:t>Without masking</a:t>
            </a:r>
            <a:endParaRPr sz="1100" b="1" i="0">
              <a:solidFill>
                <a:srgbClr val="C0302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4048" y="4096512"/>
            <a:ext cx="1901952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Plateaus at ~30 reward
Never reliably reaches boss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05456" y="3749039"/>
            <a:ext cx="2084831" cy="1024128"/>
          </a:xfrm>
          <a:prstGeom prst="rect">
            <a:avLst/>
          </a:prstGeom>
          <a:solidFill>
            <a:srgbClr val="F0F9F0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3794760"/>
            <a:ext cx="1901952" cy="32004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With masking</a:t>
            </a:r>
            <a:endParaRPr sz="1100" b="1" i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96896" y="4096512"/>
            <a:ext cx="1901952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Converges in 300K steps
56.1% win rate achieved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37760" y="960120"/>
            <a:ext cx="3977639" cy="3794760"/>
          </a:xfrm>
          <a:prstGeom prst="rect">
            <a:avLst/>
          </a:prstGeom>
          <a:solidFill>
            <a:srgbClr val="F4F1ED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024128"/>
            <a:ext cx="3657600" cy="2743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Key code</a:t>
            </a:r>
            <a:endParaRPr sz="10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02352" y="1353312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 panose="02070409020205090404"/>
              </a:rPr>
              <a:t># Wrap env with mask function</a:t>
            </a:r>
            <a:endParaRPr sz="1000" b="0" i="0">
              <a:solidFill>
                <a:srgbClr val="64748B"/>
              </a:solidFill>
              <a:latin typeface="Courier New" panose="020704090202050904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02352" y="1517904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env = ActionMasker(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2352" y="1682495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  env,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02352" y="1847088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  lambda e: e.unwrapped.action_masks()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02352" y="2011680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)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02352" y="2176272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2352" y="2340864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 panose="02070409020205090404"/>
              </a:rPr>
              <a:t># MaskablePPO uses masks in:</a:t>
            </a:r>
            <a:endParaRPr sz="1000" b="0" i="0">
              <a:solidFill>
                <a:srgbClr val="64748B"/>
              </a:solidFill>
              <a:latin typeface="Courier New" panose="020704090202050904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02352" y="2505456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 panose="02070409020205090404"/>
              </a:rPr>
              <a:t>#  · rollout buffer</a:t>
            </a:r>
            <a:endParaRPr sz="1000" b="0" i="0">
              <a:solidFill>
                <a:srgbClr val="64748B"/>
              </a:solidFill>
              <a:latin typeface="Courier New" panose="020704090202050904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02352" y="2670048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 panose="02070409020205090404"/>
              </a:rPr>
              <a:t>#  · action distribution</a:t>
            </a:r>
            <a:endParaRPr sz="1000" b="0" i="0">
              <a:solidFill>
                <a:srgbClr val="64748B"/>
              </a:solidFill>
              <a:latin typeface="Courier New" panose="020704090202050904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02352" y="2834639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 panose="02070409020205090404"/>
              </a:rPr>
              <a:t>#  · policy loss term</a:t>
            </a:r>
            <a:endParaRPr sz="1000" b="0" i="0">
              <a:solidFill>
                <a:srgbClr val="64748B"/>
              </a:solidFill>
              <a:latin typeface="Courier New" panose="020704090202050904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02352" y="2999232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02352" y="3163824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model = MaskablePPO(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02352" y="3328416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  'MlpPolicy', env,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02352" y="3493008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  n_steps=2048,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02352" y="3657600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  batch_size=64,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02352" y="3822191"/>
            <a:ext cx="3703320" cy="1828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  <a:latin typeface="Courier New" panose="02070409020205090404"/>
              </a:rPr>
              <a:t>  ...)</a:t>
            </a:r>
            <a:endParaRPr sz="1000" b="0" i="0">
              <a:solidFill>
                <a:srgbClr val="1B2A4A"/>
              </a:solidFill>
              <a:latin typeface="Courier New" panose="020704090202050904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Training Setup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MaskablePPO · sb3-contrib 2.3.0 · Google Colab T4 · 300K steps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1063625"/>
            <a:ext cx="457200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Hyperparameters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608" y="1380617"/>
            <a:ext cx="2834640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27248" y="1353312"/>
            <a:ext cx="1536192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71600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Total timesteps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0" y="1371600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300,000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608" y="1700784"/>
            <a:ext cx="28346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1700784"/>
            <a:ext cx="153619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719072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Policy network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1719072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MLP  [64, 64]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2608" y="2048256"/>
            <a:ext cx="2834640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27248" y="2048256"/>
            <a:ext cx="1536192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066543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Learning rate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0" y="2066543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3 × 10⁻⁴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92608" y="2395728"/>
            <a:ext cx="28346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27248" y="2395728"/>
            <a:ext cx="153619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414016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n_steps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0" y="2414016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2,048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2608" y="2743200"/>
            <a:ext cx="2834640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7248" y="2743200"/>
            <a:ext cx="1536192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761488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batch_size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00400" y="2761488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64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92608" y="3090672"/>
            <a:ext cx="28346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27248" y="3090672"/>
            <a:ext cx="153619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108960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n_epochs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0" y="3108960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10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92608" y="3438144"/>
            <a:ext cx="2834640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27248" y="3438144"/>
            <a:ext cx="1536192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456432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γ (discount)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00400" y="3456432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0.99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92608" y="3785616"/>
            <a:ext cx="28346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27248" y="3785616"/>
            <a:ext cx="153619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803904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λ (GAE)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00400" y="3803904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0.95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92608" y="4133087"/>
            <a:ext cx="2834640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27248" y="4133087"/>
            <a:ext cx="1536192" cy="338328"/>
          </a:xfrm>
          <a:prstGeom prst="rect">
            <a:avLst/>
          </a:prstGeom>
          <a:solidFill>
            <a:srgbClr val="EBF3FB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151376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clip_range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00400" y="4151376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0.2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92608" y="4480560"/>
            <a:ext cx="28346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27248" y="4480560"/>
            <a:ext cx="1536192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498848"/>
            <a:ext cx="2697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Parallel envs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00400" y="4498848"/>
            <a:ext cx="141732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1100" b="1" i="0">
                <a:solidFill>
                  <a:srgbClr val="1B2A4A"/>
                </a:solidFill>
                <a:latin typeface="Calibri"/>
              </a:rPr>
              <a:t>4</a:t>
            </a:r>
            <a:endParaRPr sz="11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983480" y="960120"/>
            <a:ext cx="3931920" cy="1481328"/>
          </a:xfrm>
          <a:prstGeom prst="rect">
            <a:avLst/>
          </a:prstGeom>
          <a:solidFill>
            <a:srgbClr val="1B2A4A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1005840"/>
            <a:ext cx="361188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E25D30"/>
                </a:solidFill>
                <a:latin typeface="Calibri"/>
              </a:rPr>
              <a:t>Hardware</a:t>
            </a:r>
            <a:endParaRPr sz="13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38928" y="1371600"/>
            <a:ext cx="36118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NVIDIA Tesla T4  ·  15,360 MiB</a:t>
            </a:r>
            <a:endParaRPr sz="1100" b="0" i="0">
              <a:solidFill>
                <a:srgbClr val="B0C4DE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138928" y="1700784"/>
            <a:ext cx="36118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PyTorch 2.10.0 / CUDA 13.0</a:t>
            </a:r>
            <a:endParaRPr sz="1100" b="0" i="0">
              <a:solidFill>
                <a:srgbClr val="B0C4DE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138928" y="2029967"/>
            <a:ext cx="36118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Google Colab free tier</a:t>
            </a:r>
            <a:endParaRPr sz="1100" b="0" i="0">
              <a:solidFill>
                <a:srgbClr val="B0C4DE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983480" y="2578608"/>
            <a:ext cx="1828800" cy="1078992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56632" y="2670048"/>
            <a:ext cx="1682496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800" b="1" i="0">
                <a:solidFill>
                  <a:srgbClr val="1685A7"/>
                </a:solidFill>
                <a:latin typeface="Calibri"/>
              </a:rPr>
              <a:t>4.4 min</a:t>
            </a:r>
            <a:endParaRPr sz="28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56632" y="3236976"/>
            <a:ext cx="1682496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total training time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995160" y="2578608"/>
            <a:ext cx="1828800" cy="1078992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68312" y="2670048"/>
            <a:ext cx="1682496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3600" b="1" i="0">
                <a:solidFill>
                  <a:srgbClr val="1685A7"/>
                </a:solidFill>
                <a:latin typeface="Calibri"/>
              </a:rPr>
              <a:t>300K</a:t>
            </a:r>
            <a:endParaRPr sz="36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68312" y="3236976"/>
            <a:ext cx="1682496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environment steps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983480" y="3813048"/>
            <a:ext cx="1828800" cy="1078992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56632" y="3904487"/>
            <a:ext cx="1682496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  <a:latin typeface="Calibri"/>
              </a:rPr>
              <a:t>4×</a:t>
            </a:r>
            <a:endParaRPr sz="3600" b="1" i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56632" y="4471416"/>
            <a:ext cx="1682496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parallel envs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995160" y="3813048"/>
            <a:ext cx="1828800" cy="1078992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68312" y="3904487"/>
            <a:ext cx="1682496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  <a:latin typeface="Calibri"/>
              </a:rPr>
              <a:t>0.80–0.86</a:t>
            </a:r>
            <a:endParaRPr sz="2800" b="1" i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68312" y="4471416"/>
            <a:ext cx="1682496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explained variance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Learning Curves — 300K Steps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Smooth convergence on all three PPO diagnostics: reward · episode length · value fit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6" name="Picture 5" descr="fig5_train_rew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65885"/>
            <a:ext cx="2834640" cy="23539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3986784"/>
            <a:ext cx="283464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3995928"/>
            <a:ext cx="2697480" cy="25603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1" i="0">
                <a:solidFill>
                  <a:srgbClr val="E25D30"/>
                </a:solidFill>
                <a:latin typeface="Calibri"/>
              </a:rPr>
              <a:t>ep_rew_mean</a:t>
            </a:r>
            <a:endParaRPr sz="11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4315968"/>
            <a:ext cx="2834640" cy="65836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Reward rises 3.3→50 in 18K steps,
then plateaus at 47–50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10" name="Picture 9" descr="fig6_train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65885"/>
            <a:ext cx="2834640" cy="23539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0" y="3986784"/>
            <a:ext cx="283464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3995928"/>
            <a:ext cx="2697480" cy="25603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1" i="0">
                <a:solidFill>
                  <a:srgbClr val="E25D30"/>
                </a:solidFill>
                <a:latin typeface="Calibri"/>
              </a:rPr>
              <a:t>ep_len_mean</a:t>
            </a:r>
            <a:endParaRPr sz="11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0" y="4315968"/>
            <a:ext cx="2834640" cy="65836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Episode length stabilises at ~85 steps —
policy survives longer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14" name="Picture 13" descr="fig7_explained_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33500"/>
            <a:ext cx="2834640" cy="238061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3986784"/>
            <a:ext cx="283464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3995928"/>
            <a:ext cx="2697480" cy="25603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1" i="0">
                <a:solidFill>
                  <a:srgbClr val="E25D30"/>
                </a:solidFill>
                <a:latin typeface="Calibri"/>
              </a:rPr>
              <a:t>explained_variance</a:t>
            </a:r>
            <a:endParaRPr sz="11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72200" y="4315968"/>
            <a:ext cx="2834640" cy="65836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Value-function fit reaches 0.80–0.86 —
critic is accurate</a:t>
            </a:r>
            <a:endParaRPr sz="1000" b="0" i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Headline Results — 1,000 Evaluation Episodes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Seeds 20,000–20,999  ·  Deterministic evaluation  ·  None seen during training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2608" y="1143000"/>
            <a:ext cx="1993392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847088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  <a:latin typeface="Calibri"/>
              </a:rPr>
              <a:t>56.1%</a:t>
            </a:r>
            <a:endParaRPr sz="3600" b="1" i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1847088" cy="4114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Win Rate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68879" y="1143000"/>
            <a:ext cx="1993392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234440"/>
            <a:ext cx="1847088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  <a:latin typeface="Calibri"/>
              </a:rPr>
              <a:t>95.1%</a:t>
            </a:r>
            <a:endParaRPr sz="3600" b="1" i="0">
              <a:solidFill>
                <a:srgbClr val="F39C1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42032" y="1828800"/>
            <a:ext cx="1847088" cy="4114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Boss-Reach Rate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45152" y="1143000"/>
            <a:ext cx="1993392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234440"/>
            <a:ext cx="1847088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3600" b="1" i="0">
                <a:solidFill>
                  <a:srgbClr val="E25D30"/>
                </a:solidFill>
                <a:latin typeface="Calibri"/>
              </a:rPr>
              <a:t>+49.5</a:t>
            </a:r>
            <a:endParaRPr sz="36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18304" y="1828800"/>
            <a:ext cx="1847088" cy="4114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Mean Reward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21424" y="1143000"/>
            <a:ext cx="1993392" cy="1508760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4576" y="1234440"/>
            <a:ext cx="1847088" cy="5943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3600" b="1" i="0">
                <a:solidFill>
                  <a:srgbClr val="1685A7"/>
                </a:solidFill>
                <a:latin typeface="Calibri"/>
              </a:rPr>
              <a:t>16.5</a:t>
            </a:r>
            <a:endParaRPr sz="36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94576" y="1828800"/>
            <a:ext cx="1847088" cy="41148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Mean Turns / Run</a:t>
            </a:r>
            <a:endParaRPr sz="11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2608" y="2834640"/>
            <a:ext cx="8641080" cy="713232"/>
          </a:xfrm>
          <a:prstGeom prst="rect">
            <a:avLst/>
          </a:prstGeom>
          <a:solidFill>
            <a:srgbClr val="FFF8F0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" y="2834640"/>
            <a:ext cx="73152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71216"/>
            <a:ext cx="3657600" cy="2743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Human Baseline Comparison</a:t>
            </a:r>
            <a:endParaRPr sz="1200" b="1" i="0">
              <a:solidFill>
                <a:srgbClr val="F39C12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3127248"/>
            <a:ext cx="530352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Lead designer's single playthrough: +40.55 reward  ·  reached boss but did not win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0" y="2962656"/>
            <a:ext cx="2743200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ctr"/>
            <a:r>
              <a:rPr sz="1600" b="1" i="0">
                <a:solidFill>
                  <a:srgbClr val="E25D30"/>
                </a:solidFill>
                <a:latin typeface="Calibri"/>
              </a:rPr>
              <a:t>Agent outperforms by  ~22%</a:t>
            </a:r>
            <a:endParaRPr sz="16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2608" y="3703320"/>
            <a:ext cx="201168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std reward: ±15.7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68880" y="3703320"/>
            <a:ext cx="256032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47,315 total cards played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6360" y="3703320"/>
            <a:ext cx="201168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max reward: 70.1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69480" y="3703320"/>
            <a:ext cx="164592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min reward: 6.1</a:t>
            </a:r>
            <a:endParaRPr sz="1200" b="1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2608" y="4160520"/>
            <a:ext cx="8641080" cy="6858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Bimodal distribution: defeat mode ~+34 (boss reached, lost)  ·  victory mode ~+63 (boss killed)</a:t>
            </a:r>
            <a:endParaRPr sz="1200" b="0" i="1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Reward Distribution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Bimodal shape reveals a single critical decision point: the boss fight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6" name="Picture 5" descr="fig1_rew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54455"/>
            <a:ext cx="4727575" cy="34918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1114425"/>
            <a:ext cx="76200" cy="714375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225" y="1063498"/>
            <a:ext cx="3840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E25D30"/>
                </a:solidFill>
                <a:latin typeface="Calibri"/>
              </a:rPr>
              <a:t>Defeat mode  ~+34</a:t>
            </a:r>
            <a:endParaRPr sz="1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3840480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Floors 1–9 cleared cleanly (~+5 each + dense damage reward). Boss lost — no +20 terminal bonus.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1965960"/>
            <a:ext cx="73152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84248"/>
            <a:ext cx="3840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Victory mode  ~+63</a:t>
            </a:r>
            <a:endParaRPr sz="1200" b="1" i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286000"/>
            <a:ext cx="3840480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Same floor rewards + +20 boss-kill bonus + residual HP advantage at run end.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" y="2971800"/>
            <a:ext cx="73152" cy="868680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990088"/>
            <a:ext cx="3840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685A7"/>
                </a:solidFill>
                <a:latin typeface="Calibri"/>
              </a:rPr>
              <a:t>±15.7 std deviation</a:t>
            </a:r>
            <a:endParaRPr sz="12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" y="3291840"/>
            <a:ext cx="3840480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Dominated by the binary boss outcome. Reducing variance = improving boss win rate specifically.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3977640"/>
            <a:ext cx="73152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995928"/>
            <a:ext cx="38404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95.1% reach the boss</a:t>
            </a:r>
            <a:endParaRPr sz="1200" b="1" i="0">
              <a:solidFill>
                <a:srgbClr val="F39C12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4297680"/>
            <a:ext cx="3840480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Early game is essentially solved (floors 1–6: ≥99% reach rate). The bottleneck is the boss.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Per-Floor Analysis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Floor reach rate · failure distribution · HP / SAN trajectories across 1,000 episodes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6" name="Picture 5" descr="fig2_flo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896112"/>
            <a:ext cx="4480560" cy="2029968"/>
          </a:xfrm>
          <a:prstGeom prst="rect">
            <a:avLst/>
          </a:prstGeom>
        </p:spPr>
      </p:pic>
      <p:pic>
        <p:nvPicPr>
          <p:cNvPr id="7" name="Picture 6" descr="fig3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96112"/>
            <a:ext cx="4251960" cy="2029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" y="2944368"/>
            <a:ext cx="448056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Figure: Per-floor reach rate (left) &amp; failure floor distribution (right)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3440" y="2944368"/>
            <a:ext cx="425196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Figure: Mean HP (red) &amp; SAN (purple) per floor ± 1σ</a:t>
            </a:r>
            <a:endParaRPr sz="1000" b="0" i="1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1168" y="3383280"/>
            <a:ext cx="73152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4315968" cy="62179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Floors 1–6 ≥99% reach rate — early game solved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63440" y="3383280"/>
            <a:ext cx="73152" cy="5669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3383280"/>
            <a:ext cx="4087368" cy="62179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390/439 losses (88.8%) happen on boss floor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1168" y="4133088"/>
            <a:ext cx="73152" cy="56692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133088"/>
            <a:ext cx="4315968" cy="62179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HP decays ~2–3 per floor on floors 1–6, accelerates to ~5–7 on floors 7–9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3440" y="4133088"/>
            <a:ext cx="73152" cy="566928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4133088"/>
            <a:ext cx="4087368" cy="62179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SAN stays high — agent avoids SAN-costly cards (Black Whisper, Nameless Kiss)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What Did the Agent Learn?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Card usage frequency across 47,315 plays over 1,000 episodes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pic>
        <p:nvPicPr>
          <p:cNvPr id="6" name="Picture 5" descr="fig4_car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896112"/>
            <a:ext cx="5029200" cy="3913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0680" y="960120"/>
            <a:ext cx="3493008" cy="38404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Dominant Strategy  (76.4% of all plays = 2 cards)</a:t>
            </a:r>
            <a:endParaRPr sz="13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40680" y="1417320"/>
            <a:ext cx="3493008" cy="1207008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1417320"/>
            <a:ext cx="73152" cy="1207008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1490472"/>
            <a:ext cx="1645920" cy="5029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E25D30"/>
                </a:solidFill>
                <a:latin typeface="Calibri"/>
              </a:rPr>
              <a:t>Ionic Shield
(离子护盾)</a:t>
            </a:r>
            <a:endParaRPr sz="12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96912" y="1527048"/>
            <a:ext cx="1508760" cy="457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3000" b="1" i="0">
                <a:solidFill>
                  <a:srgbClr val="E25D30"/>
                </a:solidFill>
                <a:latin typeface="Calibri"/>
              </a:rPr>
              <a:t>45.3%</a:t>
            </a:r>
            <a:endParaRPr sz="30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96128" y="2075688"/>
            <a:ext cx="3218688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Cost 1 · Grants scaling armor
Cheapest effective defence</a:t>
            </a:r>
            <a:endParaRPr sz="105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0680" y="2788920"/>
            <a:ext cx="3493008" cy="1207008"/>
          </a:xfrm>
          <a:prstGeom prst="rect">
            <a:avLst/>
          </a:prstGeom>
          <a:solidFill>
            <a:srgbClr val="EBF3FB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2788920"/>
            <a:ext cx="73152" cy="1207008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2862072"/>
            <a:ext cx="1645920" cy="5029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685A7"/>
                </a:solidFill>
                <a:latin typeface="Calibri"/>
              </a:rPr>
              <a:t>Rusty Dagger
(生锈匕首)</a:t>
            </a:r>
            <a:endParaRPr sz="12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96912" y="2898648"/>
            <a:ext cx="1508760" cy="45720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r"/>
            <a:r>
              <a:rPr sz="3000" b="1" i="0">
                <a:solidFill>
                  <a:srgbClr val="1685A7"/>
                </a:solidFill>
                <a:latin typeface="Calibri"/>
              </a:rPr>
              <a:t>31.1%</a:t>
            </a:r>
            <a:endParaRPr sz="30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96128" y="3447287"/>
            <a:ext cx="3218688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Cost 1 · Direct attack
Cheapest effective offence</a:t>
            </a:r>
            <a:endParaRPr sz="105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40680" y="4224528"/>
            <a:ext cx="3493008" cy="36576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4279265"/>
            <a:ext cx="3493135" cy="675005"/>
          </a:xfrm>
          <a:prstGeom prst="rect">
            <a:avLst/>
          </a:prstGeom>
          <a:solidFill>
            <a:srgbClr val="FFF0EE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297680"/>
            <a:ext cx="3246120" cy="50292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050" b="0" i="0">
                <a:solidFill>
                  <a:srgbClr val="B03020"/>
                </a:solidFill>
                <a:latin typeface="Calibri"/>
              </a:rPr>
              <a:t>Dead cards: Black Whisper + Nameless Kiss = 0.2% combined
Both trade SAN for damage — the agent avoids them entirely</a:t>
            </a:r>
            <a:endParaRPr sz="1050" b="0" i="0">
              <a:solidFill>
                <a:srgbClr val="B0302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Design Findings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77824"/>
            <a:ext cx="8686800" cy="420624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RL as a playtesting tool — two concrete insights in 138 seconds</a:t>
            </a:r>
            <a:endParaRPr sz="1200" b="0" i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344295"/>
            <a:ext cx="4206240" cy="2806065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44295"/>
            <a:ext cx="4206240" cy="438912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44295"/>
            <a:ext cx="3886200" cy="43891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Finding 1  ·  Ionic Shield is over-tuned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7472" y="1874647"/>
            <a:ext cx="91440" cy="329184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56359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45.3% of all plays from a 15-card deck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7472" y="2313559"/>
            <a:ext cx="91440" cy="329184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295270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Cost-1 armor scales linearly with skill cards played — unmatched efficiency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7472" y="2752470"/>
            <a:ext cx="91440" cy="329184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734183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Signal: dominance this strong implies the card crowds out strategic variety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7472" y="3191383"/>
            <a:ext cx="91440" cy="329184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73094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Fix: reduce armor scaling coefficient, or raise cost to 2 energy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7472" y="3630294"/>
            <a:ext cx="91440" cy="329184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12007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Weeks of human testing to surface → 1,000 episodes took 138 seconds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63440" y="1344295"/>
            <a:ext cx="4206240" cy="2806065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344295"/>
            <a:ext cx="420624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344295"/>
            <a:ext cx="3886200" cy="43891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Finding 2  ·  Two cards are effectively dead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36592" y="1874647"/>
            <a:ext cx="914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1856359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Black Whisper + Nameless Kiss = 0.2% combined (92/47,315 plays)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736592" y="2313559"/>
            <a:ext cx="914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9472" y="2295270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Both trade SAN for high-damage effects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36592" y="2752470"/>
            <a:ext cx="914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2734183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Agent learned that the SAN loss penalty (−0.02·Δsan) makes the trade-off negative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736592" y="3191383"/>
            <a:ext cx="914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3173094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Fix: lower SAN cost by 50%, or add a card-draw side effect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736592" y="3630294"/>
            <a:ext cx="914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3612007"/>
            <a:ext cx="3822191" cy="365760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50" b="0" i="0">
                <a:solidFill>
                  <a:srgbClr val="1A2744"/>
                </a:solidFill>
                <a:latin typeface="Calibri"/>
              </a:rPr>
              <a:t>Conditional on the reward shaping — but the problem is real and measurable</a:t>
            </a:r>
            <a:endParaRPr sz="1150" b="0" i="0">
              <a:solidFill>
                <a:srgbClr val="1A274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164592"/>
            <a:ext cx="8686800" cy="56692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Limitations &amp; Future Work</a:t>
            </a:r>
            <a:endParaRPr sz="30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168" y="749808"/>
            <a:ext cx="8741664" cy="1800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60120"/>
            <a:ext cx="411480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Limitations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2608" y="1353312"/>
            <a:ext cx="91440" cy="73152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71600"/>
            <a:ext cx="40690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Single-seed training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5488" y="1673352"/>
            <a:ext cx="4069080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All numbers from seed 42. Informal re-runs show ±2% variance — but no formal 5-seed mean ± std.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2608" y="2240280"/>
            <a:ext cx="91440" cy="73152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58568"/>
            <a:ext cx="40690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Deterministic evaluation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" y="2560320"/>
            <a:ext cx="4069080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deterministic=True gives stable numbers but likely overestimates real-world performance.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2608" y="3127248"/>
            <a:ext cx="91440" cy="73152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145536"/>
            <a:ext cx="40690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No comparison baseline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" y="3447288"/>
            <a:ext cx="4069080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No MCTS, random policy, or hand-coded heuristic to benchmark PPO against.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2608" y="4014216"/>
            <a:ext cx="91440" cy="73152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032504"/>
            <a:ext cx="4069080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No difficulty scaling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8" y="4334256"/>
            <a:ext cx="4069080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No Ascension-style tier system — policy's robustness to harder settings is unknown.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83480" y="960120"/>
            <a:ext cx="3840480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Future Work</a:t>
            </a:r>
            <a:endParaRPr sz="15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83480" y="1353312"/>
            <a:ext cx="91440" cy="731520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1371600"/>
            <a:ext cx="3749039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Multi-seed reporting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66360" y="1673352"/>
            <a:ext cx="3749039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Proper error bars on headline metrics.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83480" y="2240280"/>
            <a:ext cx="91440" cy="731520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258568"/>
            <a:ext cx="3749039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Curriculum difficulty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66360" y="2560320"/>
            <a:ext cx="3749039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Gradually raise boss HP — watch policy adapt or collapse.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983480" y="3127248"/>
            <a:ext cx="91440" cy="731520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3145536"/>
            <a:ext cx="3749039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Recurrent policy (LSTM)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66360" y="3447288"/>
            <a:ext cx="3749039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Capture floor-to-floor rule-modifier interactions across turns.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983480" y="4014216"/>
            <a:ext cx="91440" cy="731520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4032504"/>
            <a:ext cx="3749039" cy="29260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Re-balance &amp; re-train</a:t>
            </a:r>
            <a:endParaRPr sz="1200" b="1" i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66360" y="4334256"/>
            <a:ext cx="3749039" cy="475488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Apply the two findings from §7.2 and verify the dominance structure shifts.</a:t>
            </a:r>
            <a:endParaRPr sz="1100" b="0" i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663440" y="960120"/>
            <a:ext cx="36576" cy="3822191"/>
          </a:xfrm>
          <a:prstGeom prst="rect">
            <a:avLst/>
          </a:prstGeom>
          <a:solidFill>
            <a:srgbClr val="C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  <a:endParaRPr sz="28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3657600" cy="36576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253B60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09728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7936992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56.1% win rate</a:t>
            </a:r>
            <a:endParaRPr sz="1500" b="1" i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7936992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MaskablePPO + dense reward shaping converges in 4.4 minutes from scratch on a free GPU.</a:t>
            </a:r>
            <a:endParaRPr sz="1300" b="0" i="0">
              <a:solidFill>
                <a:srgbClr val="C0D8F0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8412480" cy="1097280"/>
          </a:xfrm>
          <a:prstGeom prst="rect">
            <a:avLst/>
          </a:prstGeom>
          <a:solidFill>
            <a:srgbClr val="253B60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109728" cy="1097280"/>
          </a:xfrm>
          <a:prstGeom prst="rect">
            <a:avLst/>
          </a:prstGeom>
          <a:solidFill>
            <a:srgbClr val="E25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7936992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E25D30"/>
                </a:solidFill>
                <a:latin typeface="Calibri"/>
              </a:rPr>
              <a:t>Action masking is the key</a:t>
            </a:r>
            <a:endParaRPr sz="1500" b="1" i="0">
              <a:solidFill>
                <a:srgbClr val="E25D3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7936992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Without masking the policy plateaus at ~30 reward and never reliably reaches the boss.</a:t>
            </a:r>
            <a:endParaRPr sz="1300" b="0" i="0">
              <a:solidFill>
                <a:srgbClr val="C0D8F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3529584"/>
            <a:ext cx="8412480" cy="1097280"/>
          </a:xfrm>
          <a:prstGeom prst="rect">
            <a:avLst/>
          </a:prstGeom>
          <a:solidFill>
            <a:srgbClr val="253B60"/>
          </a:solidFill>
          <a:ln w="9525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529584"/>
            <a:ext cx="109728" cy="1097280"/>
          </a:xfrm>
          <a:prstGeom prst="rect">
            <a:avLst/>
          </a:prstGeom>
          <a:solidFill>
            <a:srgbClr val="168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21024"/>
            <a:ext cx="7936992" cy="34747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500" b="1" i="0">
                <a:solidFill>
                  <a:srgbClr val="1685A7"/>
                </a:solidFill>
                <a:latin typeface="Calibri"/>
              </a:rPr>
              <a:t>RL as a design tool</a:t>
            </a:r>
            <a:endParaRPr sz="1500" b="1" i="0">
              <a:solidFill>
                <a:srgbClr val="1685A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7936992" cy="530352"/>
          </a:xfrm>
          <a:prstGeom prst="rect">
            <a:avLst/>
          </a:prstGeom>
          <a:noFill/>
        </p:spPr>
        <p:txBody>
          <a:bodyPr wrap="square" lIns="0" tIns="25400" rIns="0" bIns="25400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  <a:latin typeface="Calibri"/>
              </a:rPr>
              <a:t>1,000-episode evaluation (138 sec) surfaced two balance problems undetected after weeks of manual playtesting.</a:t>
            </a:r>
            <a:endParaRPr sz="1300" b="0" i="0">
              <a:solidFill>
                <a:srgbClr val="C0D8F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7093</Words>
  <Application>WPS Writer</Application>
  <PresentationFormat>On-screen Show (4:3)</PresentationFormat>
  <Paragraphs>460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</vt:lpstr>
      <vt:lpstr>Calibri</vt:lpstr>
      <vt:lpstr>Helvetica Neue</vt:lpstr>
      <vt:lpstr>Courier New</vt:lpstr>
      <vt:lpstr>微软雅黑</vt:lpstr>
      <vt:lpstr>汉仪旗黑</vt:lpstr>
      <vt:lpstr>宋体</vt:lpstr>
      <vt:lpstr>Arial Unicode MS</vt:lpstr>
      <vt:lpstr>汉仪书宋二KW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/>
  <cp:revision>2</cp:revision>
  <dcterms:created xsi:type="dcterms:W3CDTF">2026-05-15T15:05:18Z</dcterms:created>
  <dcterms:modified xsi:type="dcterms:W3CDTF">2026-05-15T15:05:18Z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F8760AF3965166862E36076A84DD8EDA_43</vt:lpwstr>
  </property>
  <property fmtid="{D5CDD505-2E9C-101B-9397-08002B2CF9AE}" pid="3" name="KSOProductBuildVer">
    <vt:lpwstr>1033-6.8.2.8850</vt:lpwstr>
  </property>
</Properties>
</file>